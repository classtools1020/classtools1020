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封面｜標題彈跳出現 → 副標淡入 → 角色剪影依序淡入（淡入動畫，每張 0.5 秒間隔）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Wordwall 打地鼠 5 題快問快答。C 同學上前操作觸控；A B D 用🟢🔴牌投票。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星星依序彈跳出現 A→B→C→D，每個間隔 0.5 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問號從小放大彈跳出現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三個詞依序滑入，最後問號彈跳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點依序飛入，每點停 0.8 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暖身關卡蓋上「過關 ✓」印章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兩張牌左右滑入。提醒 A 生用眼神、D 生可用指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位學生 Q 版頭像依序彈跳，泡泡淡入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幕簾從中央向兩側滑開（非旋轉、非爆炸）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米卡莎 &amp; 阿爾敏 登場：背景→角色→名牌 依序滑入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左右兩半同時飛入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題目滑入，下方🟢🔴牌出現。提示 A 生用眼神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3-2-1 數字依序彈跳放大。C 生負責喊倒數當小助教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答案滑入 → 小框淡入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眼淚緩慢下滑（非閃爍），泡泡淡入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大雄 &amp; 胖虎 登場：背景→角色→名牌 依序滑入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左右飛入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題目滑入，下方🟢🔴牌出現。提示 A 生用眼神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3-2-1 數字依序彈跳放大。C 生負責喊倒數當小助教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答案滑入 → 小框淡入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延伸：胖虎也是男生 + 他會下廚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背景→小新→對話泡泡 依序滑入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選項依序飛入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倒數 5 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兩段文字依序淡入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金句飛入，彩虹色條從左到右滑入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甘露寺 &amp; 炭治郎 登場：背景→角色→名牌 依序滑入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左右飛入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題目滑入，下方🟢🔴牌出現。提示 A 生用眼神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3-2-1 數字依序彈跳放大。C 生負責喊倒數當小助教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答案飛入 + 淡入式光暈（非閃爍）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延伸：炭治郎溫柔 + 強大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娜美 &amp; 女帝 登場：背景→角色→名牌 依序滑入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左右飛入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 + 3 選項飛入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3-2-1 數字依序彈跳放大。C 生負責喊倒數當小助教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答案滑入 → 小框淡入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兩位角色 Q 版站在領獎台上同高度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麗子 登場：背景→角色→名牌 依序滑入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個圖示依序彈跳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對話泡泡滑入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3-2-1 數字依序彈跳放大。C 生負責喊倒數當小助教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答案滑入 → 小框淡入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角色依序淡入 → 金句滑入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城堡滑入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兩人滑入 → 愛心彈跳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惡龍淡入 → 煙霧緩慢飄出（非閃爍）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紙袋從上方滑下覆蓋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公主、惡龍、泡泡依序滑入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惡龍緩慢淡入倒下（非爆炸）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門滑開 → 王子彈出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泡泡滑入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3-2-1 數字依序彈跳放大。C 生負責喊倒數當小助教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「不對」大字飛入 → 公主背影漸漸走遠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泡泡淡入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金句飛入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個能力標籤依序彈跳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魔法棒從天而降彈跳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個泡泡依序飛入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問題滑入 → 範例淡入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問題滑入 → 範例淡入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問題滑入 → 範例淡入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情境飛入 → 三個問題逐條打 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印章彈跳蓋下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頭像依序彈跳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卡同時淡入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同學 宣言：圖卡飛入後變大顯示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同學 宣言：圖卡飛入後變大顯示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同學 宣言：圖卡飛入後變大顯示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同學 宣言：圖卡飛入後變大顯示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組依序滑入排成隊形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標題飛入 → 三行詩句依序淡入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問號彈跳 → 「下週見」滑入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4A6FA5"/>
                </a:solidFill>
                <a:latin typeface="微軟正黑體"/>
              </a:rPr>
              <a:t>我就是我，最特別！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FF8A65"/>
                </a:solidFill>
                <a:latin typeface="微軟正黑體"/>
              </a:rPr>
              <a:t>— 破除性別刻板印象 + 尋找你的英雄原型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463040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4630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⚔️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52390"/>
            <a:ext cx="1463040" cy="526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微軟正黑體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931920"/>
            <a:ext cx="1463040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114800"/>
            <a:ext cx="14630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952390"/>
            <a:ext cx="1463040" cy="526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微軟正黑體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931920"/>
            <a:ext cx="1463040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114800"/>
            <a:ext cx="14630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952390"/>
            <a:ext cx="1463040" cy="526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微軟正黑體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1463040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114800"/>
            <a:ext cx="14630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952390"/>
            <a:ext cx="1463040" cy="526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微軟正黑體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1463040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114800"/>
            <a:ext cx="14630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952390"/>
            <a:ext cx="1463040" cy="526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微軟正黑體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3931920"/>
            <a:ext cx="1463040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4114800"/>
            <a:ext cx="14630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952390"/>
            <a:ext cx="1463040" cy="526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微軟正黑體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2026/06/01 ｜ 公民課 ｜ Stacey 老師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4A6FA5"/>
                </a:solidFill>
                <a:latin typeface="微軟正黑體"/>
              </a:rPr>
              <a:t>暖身：時空偵探打地鼠 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594360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>
                <a:solidFill>
                  <a:srgbClr val="6B7280"/>
                </a:solidFill>
                <a:latin typeface="微軟正黑體"/>
              </a:rPr>
              <a:t>[Wordwall 嵌入畫面]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🔗 預先打開 Wordwall 連結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286000"/>
            <a:ext cx="3657600" cy="32004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0">
                <a:solidFill>
                  <a:srgbClr val="2C3E50"/>
                </a:solidFill>
                <a:latin typeface="微軟正黑體"/>
              </a:rPr>
              <a:t>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今日打地鼠長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5720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8A65"/>
                </a:solidFill>
                <a:latin typeface="微軟正黑體"/>
              </a:rPr>
              <a:t>C 同學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FF8A65"/>
                </a:solidFill>
                <a:latin typeface="微軟正黑體"/>
              </a:rPr>
              <a:t>太厲害了！🎉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560320" cy="3200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2C3E50"/>
                </a:solidFill>
                <a:latin typeface="微軟正黑體"/>
              </a:rP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A6FA5"/>
                </a:solidFill>
                <a:latin typeface="微軟正黑體"/>
              </a:rPr>
              <a:t>A 同學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743200"/>
            <a:ext cx="2560320" cy="3200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92608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2C3E50"/>
                </a:solidFill>
                <a:latin typeface="微軟正黑體"/>
              </a:rP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8463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A6FA5"/>
                </a:solidFill>
                <a:latin typeface="微軟正黑體"/>
              </a:rPr>
              <a:t>B 同學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2560320" cy="3200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2C3E50"/>
                </a:solidFill>
                <a:latin typeface="微軟正黑體"/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8463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A6FA5"/>
                </a:solidFill>
                <a:latin typeface="微軟正黑體"/>
              </a:rPr>
              <a:t>C 同學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743200"/>
            <a:ext cx="2560320" cy="3200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92608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2C3E50"/>
                </a:solidFill>
                <a:latin typeface="微軟正黑體"/>
              </a:rP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8463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A6FA5"/>
                </a:solidFill>
                <a:latin typeface="微軟正黑體"/>
              </a:rPr>
              <a:t>D 同學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0" b="1">
                <a:solidFill>
                  <a:srgbClr val="4A6FA5"/>
                </a:solidFill>
                <a:latin typeface="微軟正黑體"/>
              </a:rPr>
              <a:t>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2C3E50"/>
                </a:solidFill>
                <a:latin typeface="微軟正黑體"/>
              </a:rPr>
              <a:t>我是男生？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2C3E50"/>
                </a:solidFill>
                <a:latin typeface="微軟正黑體"/>
              </a:rPr>
              <a:t>我是女生？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FF8A65"/>
                </a:solidFill>
                <a:latin typeface="微軟正黑體"/>
              </a:rPr>
              <a:t>還是…？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4A6FA5"/>
                </a:solidFill>
                <a:latin typeface="微軟正黑體"/>
              </a:rPr>
              <a:t>我們今天就來找答案 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>
                <a:solidFill>
                  <a:srgbClr val="4A6FA5"/>
                </a:solidFill>
                <a:latin typeface="微軟正黑體"/>
              </a:rPr>
              <a:t>今天的探險目標 🗺️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9418320" cy="11887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0">
                <a:solidFill>
                  <a:srgbClr val="2C3E50"/>
                </a:solidFill>
                <a:latin typeface="微軟正黑體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5740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軟正黑體"/>
              </a:rPr>
              <a:t>找出「性別刻板印象」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91840"/>
            <a:ext cx="9418320" cy="11887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42900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0">
                <a:solidFill>
                  <a:srgbClr val="2C3E50"/>
                </a:solidFill>
                <a:latin typeface="微軟正黑體"/>
              </a:rPr>
              <a:t>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520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軟正黑體"/>
              </a:rPr>
              <a:t>認識你的英雄特質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754880"/>
            <a:ext cx="9418320" cy="11887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89204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0">
                <a:solidFill>
                  <a:srgbClr val="2C3E50"/>
                </a:solidFill>
                <a:latin typeface="微軟正黑體"/>
              </a:rPr>
              <a:t>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98348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軟正黑體"/>
              </a:rPr>
              <a:t>練習「神奇判斷法」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7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>
                <a:solidFill>
                  <a:srgbClr val="4A6FA5"/>
                </a:solidFill>
                <a:latin typeface="微軟正黑體"/>
              </a:rPr>
              <a:t>我們的學習地圖 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926080"/>
            <a:ext cx="2103120" cy="237744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</a:rPr>
              <a:t>暖身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937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軟正黑體"/>
              </a:rPr>
              <a:t>第 1 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926080"/>
            <a:ext cx="210312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2976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動漫天團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937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軟正黑體"/>
              </a:rPr>
              <a:t>第 2 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926080"/>
            <a:ext cx="210312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2976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公主故事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937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軟正黑體"/>
              </a:rPr>
              <a:t>第 3 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2926080"/>
            <a:ext cx="210312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42976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判斷法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4937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軟正黑體"/>
              </a:rPr>
              <a:t>第 4 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926080"/>
            <a:ext cx="210312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42976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英雄宣言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937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軟正黑體"/>
              </a:rPr>
              <a:t>第 5 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8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我們的🟢🔴牌怎麼用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2194560"/>
            <a:ext cx="2926080" cy="292608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5468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微軟正黑體"/>
              </a:rPr>
              <a:t>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2C3E50"/>
                </a:solidFill>
                <a:latin typeface="微軟正黑體"/>
              </a:rPr>
              <a:t>我覺得對</a:t>
            </a:r>
          </a:p>
          <a:p>
            <a:pPr algn="ctr"/>
            <a:r>
              <a:rPr sz="3000" b="1">
                <a:solidFill>
                  <a:srgbClr val="2C3E50"/>
                </a:solidFill>
                <a:latin typeface="微軟正黑體"/>
              </a:rPr>
              <a:t>我同意</a:t>
            </a:r>
          </a:p>
        </p:txBody>
      </p:sp>
      <p:sp>
        <p:nvSpPr>
          <p:cNvPr id="10" name="Oval 9"/>
          <p:cNvSpPr/>
          <p:nvPr/>
        </p:nvSpPr>
        <p:spPr>
          <a:xfrm>
            <a:off x="7315200" y="2194560"/>
            <a:ext cx="2926080" cy="292608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15468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微軟正黑體"/>
              </a:rPr>
              <a:t>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21208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2C3E50"/>
                </a:solidFill>
                <a:latin typeface="微軟正黑體"/>
              </a:rPr>
              <a:t>我覺得不對</a:t>
            </a:r>
          </a:p>
          <a:p>
            <a:pPr algn="ctr"/>
            <a:r>
              <a:rPr sz="3000" b="1">
                <a:solidFill>
                  <a:srgbClr val="2C3E50"/>
                </a:solidFill>
                <a:latin typeface="微軟正黑體"/>
              </a:rPr>
              <a:t>我不同意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263640"/>
            <a:ext cx="1078991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  <a:latin typeface="微軟正黑體"/>
              </a:rPr>
              <a:t>A 同學：用眼神告訴老師　｜　D 同學：用手指也可以　｜　老師會幫忙舉牌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9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0" b="1">
                <a:solidFill>
                  <a:srgbClr val="4A6FA5"/>
                </a:solidFill>
                <a:latin typeface="微軟正黑體"/>
              </a:rPr>
              <a:t>準備好了嗎？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737360"/>
            <a:ext cx="4846320" cy="914400"/>
          </a:xfrm>
          <a:prstGeom prst="roundRect">
            <a:avLst>
              <a:gd name="adj" fmla="val 20000"/>
            </a:avLst>
          </a:prstGeom>
          <a:solidFill>
            <a:srgbClr val="FFE082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87451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軟正黑體"/>
              </a:rPr>
              <a:t>準備好了！🚀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A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[Q 版頭像]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004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526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B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[Q 版頭像]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526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C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[Q 版頭像]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2004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526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D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[Q 版頭像]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10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§1 開場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457200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微軟正黑體"/>
              </a:rPr>
              <a:t>動漫天團出場！🎬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FFE082"/>
                </a:solidFill>
                <a:latin typeface="微軟正黑體"/>
              </a:rPr>
              <a:t>6 位英雄角色，一個一個登場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11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進擊的巨人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這位是… 米卡莎 &amp; 阿爾敏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[米卡莎 &amp; 阿爾敏]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Q 版 Q 版插圖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（柔色、無打鬥）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484632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🗡 米卡莎 &amp; 阿爾敏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175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⚔️  米卡莎：很帥氣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8404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💪  米卡莎：很強壯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6634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💭  阿爾敏：很聰明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486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😢  阿爾敏：會流眼淚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12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進擊的巨人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他們的特質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029200" cy="2633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0" b="0">
                <a:solidFill>
                  <a:srgbClr val="2C3E50"/>
                </a:solidFill>
                <a:latin typeface="微軟正黑體"/>
              </a:rPr>
              <a:t>⚔️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50054"/>
            <a:ext cx="5029200" cy="1404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米卡莎</a:t>
            </a:r>
          </a:p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帥氣 + 強壯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2633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0" b="0">
                <a:solidFill>
                  <a:srgbClr val="2C3E50"/>
                </a:solidFill>
                <a:latin typeface="微軟正黑體"/>
              </a:rPr>
              <a:t>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50054"/>
            <a:ext cx="5029200" cy="1404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8A65"/>
                </a:solidFill>
                <a:latin typeface="微軟正黑體"/>
              </a:rPr>
              <a:t>阿爾敏</a:t>
            </a:r>
          </a:p>
          <a:p>
            <a:pPr algn="ctr"/>
            <a:r>
              <a:rPr sz="2200" b="1">
                <a:solidFill>
                  <a:srgbClr val="FF8A65"/>
                </a:solidFill>
                <a:latin typeface="微軟正黑體"/>
              </a:rPr>
              <a:t>聰明 + 會哭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13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進擊的巨人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題目頁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8A65"/>
                </a:solidFill>
                <a:latin typeface="微軟正黑體"/>
              </a:rPr>
              <a:t>🤔 想一想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2C3E50"/>
                </a:solidFill>
                <a:latin typeface="微軟正黑體"/>
              </a:rPr>
              <a:t>米卡莎很帥氣，</a:t>
            </a:r>
          </a:p>
          <a:p>
            <a:pPr algn="ctr"/>
            <a:r>
              <a:rPr sz="5400" b="1">
                <a:solidFill>
                  <a:srgbClr val="2C3E50"/>
                </a:solidFill>
                <a:latin typeface="微軟正黑體"/>
              </a:rPr>
              <a:t>她是男生還是女生？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4389120"/>
            <a:ext cx="1645920" cy="164592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70916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女生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389120"/>
            <a:ext cx="1645920" cy="164592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0916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男生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78991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  <a:latin typeface="微軟正黑體"/>
              </a:rPr>
              <a:t>A 同學：眼神告訴老師　｜　D 同學：用手指　｜　舉起你的牌！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14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進擊的巨人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軟正黑體"/>
              </a:rPr>
              <a:t>倒數頁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0" b="1">
                <a:solidFill>
                  <a:srgbClr val="FF8A65"/>
                </a:solidFill>
                <a:latin typeface="微軟正黑體"/>
              </a:rPr>
              <a:t>3   2   1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4A6FA5"/>
                </a:solidFill>
                <a:latin typeface="微軟正黑體"/>
              </a:rPr>
              <a:t>舉  牌！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1097280" cy="109728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好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3657600"/>
            <a:ext cx="1097280" cy="109728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15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進擊的巨人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答案頁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4A6FA5"/>
                </a:solidFill>
                <a:latin typeface="微軟正黑體"/>
              </a:rPr>
              <a:t>米卡莎是 → 女生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9418320" cy="164592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帥氣不分男生女生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16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進擊的巨人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阿爾敏的眼淚 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5720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[阿爾敏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眼角有一滴淚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029200" cy="3474720"/>
          </a:xfrm>
          <a:prstGeom prst="roundRect">
            <a:avLst>
              <a:gd name="adj" fmla="val 20000"/>
            </a:avLst>
          </a:prstGeom>
          <a:solidFill>
            <a:srgbClr val="FFE082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軟正黑體"/>
              </a:rPr>
              <a:t>承認害怕，</a:t>
            </a:r>
          </a:p>
          <a:p>
            <a:pPr algn="ctr"/>
            <a:r>
              <a:rPr sz="3200" b="0">
                <a:solidFill>
                  <a:srgbClr val="2C3E50"/>
                </a:solidFill>
                <a:latin typeface="微軟正黑體"/>
              </a:rPr>
              <a:t>還是繼續做對的事，</a:t>
            </a:r>
          </a:p>
          <a:p>
            <a:pPr algn="ctr"/>
            <a:r>
              <a:rPr sz="3200" b="0">
                <a:solidFill>
                  <a:srgbClr val="2C3E50"/>
                </a:solidFill>
                <a:latin typeface="微軟正黑體"/>
              </a:rPr>
              <a:t>這就是「勇敢」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8A65"/>
                </a:solidFill>
                <a:latin typeface="微軟正黑體"/>
              </a:rPr>
              <a:t>✨ 眼淚不是弱，是真實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17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哆啦A夢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這位是… 大雄 &amp; 胖虎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[大雄 &amp; 胖虎]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Q 版 Q 版插圖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（柔色、無打鬥）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484632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🤖 大雄 &amp; 胖虎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175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🧵  大雄：翻花繩 高手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8404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📚  大雄：愛看圖畫書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6634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🍳  胖虎：其實很會下廚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486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🎤  胖虎：愛唱歌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18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哆啦A夢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他們的特質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029200" cy="2633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0" b="0">
                <a:solidFill>
                  <a:srgbClr val="2C3E50"/>
                </a:solidFill>
                <a:latin typeface="微軟正黑體"/>
              </a:rPr>
              <a:t>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50054"/>
            <a:ext cx="5029200" cy="1404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大雄</a:t>
            </a:r>
          </a:p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翻花繩 拿手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2633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0" b="0">
                <a:solidFill>
                  <a:srgbClr val="2C3E50"/>
                </a:solidFill>
                <a:latin typeface="微軟正黑體"/>
              </a:rPr>
              <a:t>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50054"/>
            <a:ext cx="5029200" cy="1404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8A65"/>
                </a:solidFill>
                <a:latin typeface="微軟正黑體"/>
              </a:rPr>
              <a:t>胖虎</a:t>
            </a:r>
          </a:p>
          <a:p>
            <a:pPr algn="ctr"/>
            <a:r>
              <a:rPr sz="2200" b="1">
                <a:solidFill>
                  <a:srgbClr val="FF8A65"/>
                </a:solidFill>
                <a:latin typeface="微軟正黑體"/>
              </a:rPr>
              <a:t>下廚 超強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19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哆啦A夢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題目頁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8A65"/>
                </a:solidFill>
                <a:latin typeface="微軟正黑體"/>
              </a:rPr>
              <a:t>🤔 想一想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2C3E50"/>
                </a:solidFill>
                <a:latin typeface="微軟正黑體"/>
              </a:rPr>
              <a:t>大雄喜歡翻花繩，</a:t>
            </a:r>
          </a:p>
          <a:p>
            <a:pPr algn="ctr"/>
            <a:r>
              <a:rPr sz="5400" b="1">
                <a:solidFill>
                  <a:srgbClr val="2C3E50"/>
                </a:solidFill>
                <a:latin typeface="微軟正黑體"/>
              </a:rPr>
              <a:t>他是男生還是女生？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4389120"/>
            <a:ext cx="1645920" cy="164592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70916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女生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389120"/>
            <a:ext cx="1645920" cy="164592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0916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男生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78991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  <a:latin typeface="微軟正黑體"/>
              </a:rPr>
              <a:t>A 同學：眼神告訴老師　｜　D 同學：用手指　｜　舉起你的牌！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20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哆啦A夢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軟正黑體"/>
              </a:rPr>
              <a:t>倒數頁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0" b="1">
                <a:solidFill>
                  <a:srgbClr val="FF8A65"/>
                </a:solidFill>
                <a:latin typeface="微軟正黑體"/>
              </a:rPr>
              <a:t>3   2   1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4A6FA5"/>
                </a:solidFill>
                <a:latin typeface="微軟正黑體"/>
              </a:rPr>
              <a:t>舉  牌！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1097280" cy="109728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好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3657600"/>
            <a:ext cx="1097280" cy="109728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21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哆啦A夢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答案頁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4A6FA5"/>
                </a:solidFill>
                <a:latin typeface="微軟正黑體"/>
              </a:rPr>
              <a:t>大雄是 → 男生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9418320" cy="164592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男生也可以玩很細緻的東西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22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哆啦A夢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那胖虎呢？🍳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5720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[胖虎下廚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圍裙、湯鍋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軟正黑體"/>
              </a:rPr>
              <a:t>胖虎下廚超強，</a:t>
            </a:r>
          </a:p>
          <a:p>
            <a:pPr algn="l"/>
            <a:r>
              <a:rPr sz="3200" b="1">
                <a:solidFill>
                  <a:srgbClr val="2C3E50"/>
                </a:solidFill>
                <a:latin typeface="微軟正黑體"/>
              </a:rPr>
              <a:t>他是男生嗎？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66BB6A"/>
                </a:solidFill>
                <a:latin typeface="微軟正黑體"/>
              </a:rPr>
              <a:t>是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029200"/>
            <a:ext cx="5029200" cy="118872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男生也可以</a:t>
            </a:r>
          </a:p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下廚很棒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23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蠟筆小新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小新今天穿了…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5720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[小新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粉紅色 T-shirt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029200" cy="1371600"/>
          </a:xfrm>
          <a:prstGeom prst="roundRect">
            <a:avLst>
              <a:gd name="adj" fmla="val 20000"/>
            </a:avLst>
          </a:prstGeom>
          <a:solidFill>
            <a:srgbClr val="FFCCCC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2C3E50"/>
                </a:solidFill>
                <a:latin typeface="微軟正黑體"/>
              </a:rPr>
              <a:t>咦？粉紅色是</a:t>
            </a:r>
          </a:p>
          <a:p>
            <a:pPr algn="ctr"/>
            <a:r>
              <a:rPr sz="2600" b="0">
                <a:solidFill>
                  <a:srgbClr val="2C3E50"/>
                </a:solidFill>
                <a:latin typeface="微軟正黑體"/>
              </a:rPr>
              <a:t>女生穿的吧？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029200" cy="1371600"/>
          </a:xfrm>
          <a:prstGeom prst="roundRect">
            <a:avLst>
              <a:gd name="adj" fmla="val 20000"/>
            </a:avLst>
          </a:prstGeom>
          <a:solidFill>
            <a:srgbClr val="FFCCCC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25196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2C3E50"/>
                </a:solidFill>
                <a:latin typeface="微軟正黑體"/>
              </a:rPr>
              <a:t>哈哈哈～</a:t>
            </a:r>
          </a:p>
          <a:p>
            <a:pPr algn="ctr"/>
            <a:r>
              <a:rPr sz="2600" b="0">
                <a:solidFill>
                  <a:srgbClr val="2C3E50"/>
                </a:solidFill>
                <a:latin typeface="微軟正黑體"/>
              </a:rPr>
              <a:t>小新好奇怪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— 同學取笑他 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24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蠟筆小新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小新該怎麼辦？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566160" cy="3657600"/>
          </a:xfrm>
          <a:prstGeom prst="roundRect">
            <a:avLst>
              <a:gd name="adj" fmla="val 15000"/>
            </a:avLst>
          </a:prstGeom>
          <a:solidFill>
            <a:srgbClr val="FFE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換掉粉紅色</a:t>
            </a:r>
          </a:p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躲起來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566160" cy="3657600"/>
          </a:xfrm>
          <a:prstGeom prst="roundRect">
            <a:avLst>
              <a:gd name="adj" fmla="val 15000"/>
            </a:avLst>
          </a:prstGeom>
          <a:solidFill>
            <a:srgbClr val="FF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65760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跟他們吵架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94560"/>
            <a:ext cx="3566160" cy="3657600"/>
          </a:xfrm>
          <a:prstGeom prst="roundRect">
            <a:avLst>
              <a:gd name="adj" fmla="val 15000"/>
            </a:avLst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2C3E50"/>
                </a:solidFill>
                <a:latin typeface="微軟正黑體"/>
              </a:rPr>
              <a:t>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5760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繼續穿，告訴他們：</a:t>
            </a:r>
          </a:p>
          <a:p>
            <a:pPr algn="ctr"/>
            <a:r>
              <a:rPr sz="2400" b="1">
                <a:solidFill>
                  <a:srgbClr val="2C3E50"/>
                </a:solidFill>
                <a:latin typeface="微軟正黑體"/>
              </a:rPr>
              <a:t>粉紅色我喜歡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263640"/>
            <a:ext cx="1078991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  <a:latin typeface="微軟正黑體"/>
              </a:rPr>
              <a:t>D 同學：用手指指你選的那個　｜　沒有對錯，說說看你的想法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25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蠟筆小新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題目頁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8A65"/>
                </a:solidFill>
                <a:latin typeface="微軟正黑體"/>
              </a:rPr>
              <a:t>🤔 兩難題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0" b="1">
                <a:solidFill>
                  <a:srgbClr val="2C3E50"/>
                </a:solidFill>
                <a:latin typeface="微軟正黑體"/>
              </a:rPr>
              <a:t>你覺得小新該怎麼辦？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4A6FA5"/>
                </a:solidFill>
                <a:latin typeface="微軟正黑體"/>
              </a:rPr>
              <a:t>🅐  🅑  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78991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  <a:latin typeface="微軟正黑體"/>
              </a:rPr>
              <a:t>想 5 秒鐘…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26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蠟筆小新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軟正黑體"/>
              </a:rPr>
              <a:t>倒數頁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56032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0" b="1">
                <a:solidFill>
                  <a:srgbClr val="FF8A65"/>
                </a:solidFill>
                <a:latin typeface="微軟正黑體"/>
              </a:rPr>
              <a:t>5  4  3  2  1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27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蠟筆小新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答案頁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沒有標準答案，但是…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468880"/>
            <a:ext cx="9418320" cy="32004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8A65"/>
                </a:solidFill>
                <a:latin typeface="微軟正黑體"/>
              </a:rPr>
              <a:t>💡 你知道嗎？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100 年前，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8A65"/>
                </a:solidFill>
                <a:latin typeface="微軟正黑體"/>
              </a:rPr>
              <a:t>粉紅色其實是「男生」的顏色！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4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微軟正黑體"/>
              </a:rPr>
              <a:t>（顏色會被「貼上性別」其實是慢慢被人決定的）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28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蠟筆小新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2C3E50"/>
                </a:solidFill>
                <a:latin typeface="微軟正黑體"/>
              </a:rPr>
              <a:t>顏色沒有性別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8A65"/>
                </a:solidFill>
                <a:latin typeface="微軟正黑體"/>
              </a:rPr>
              <a:t>喜歡的就是你的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691640" cy="914400"/>
          </a:xfrm>
          <a:prstGeom prst="rect">
            <a:avLst/>
          </a:prstGeom>
          <a:solidFill>
            <a:srgbClr val="FFB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5029200"/>
            <a:ext cx="1691640" cy="914400"/>
          </a:xfrm>
          <a:prstGeom prst="rect">
            <a:avLst/>
          </a:prstGeom>
          <a:solidFill>
            <a:srgbClr val="FFD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5029200"/>
            <a:ext cx="1691640" cy="914400"/>
          </a:xfrm>
          <a:prstGeom prst="rect">
            <a:avLst/>
          </a:prstGeom>
          <a:solidFill>
            <a:srgbClr val="FFF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9" y="5029200"/>
            <a:ext cx="1691640" cy="914400"/>
          </a:xfrm>
          <a:prstGeom prst="rect">
            <a:avLst/>
          </a:prstGeom>
          <a:solidFill>
            <a:srgbClr val="BAF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5029200"/>
            <a:ext cx="1691640" cy="914400"/>
          </a:xfrm>
          <a:prstGeom prst="rect">
            <a:avLst/>
          </a:prstGeom>
          <a:solidFill>
            <a:srgbClr val="BA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5029200"/>
            <a:ext cx="1691640" cy="914400"/>
          </a:xfrm>
          <a:prstGeom prst="rect">
            <a:avLst/>
          </a:prstGeom>
          <a:solidFill>
            <a:srgbClr val="CDB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29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鬼滅之刃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這位是… 甘露寺 &amp; 炭治郎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[甘露寺 &amp; 炭治郎]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Q 版 Q 版插圖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（柔色、無打鬥）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484632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⚔️ 甘露寺 &amp; 炭治郎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175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🌸  甘露寺：可愛粉色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8404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💪  甘露寺：力氣超大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6634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😊  炭治郎：很溫柔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486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🦸  炭治郎：很強保護家人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30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鬼滅之刃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他們的特質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029200" cy="2633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0" b="0">
                <a:solidFill>
                  <a:srgbClr val="2C3E50"/>
                </a:solidFill>
                <a:latin typeface="微軟正黑體"/>
              </a:rPr>
              <a:t>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50054"/>
            <a:ext cx="5029200" cy="1404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8BBD0"/>
                </a:solidFill>
                <a:latin typeface="微軟正黑體"/>
              </a:rPr>
              <a:t>甘露寺</a:t>
            </a:r>
          </a:p>
          <a:p>
            <a:pPr algn="ctr"/>
            <a:r>
              <a:rPr sz="2200" b="1">
                <a:solidFill>
                  <a:srgbClr val="F8BBD0"/>
                </a:solidFill>
                <a:latin typeface="微軟正黑體"/>
              </a:rPr>
              <a:t>粉粉的 + 超強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2633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0" b="0">
                <a:solidFill>
                  <a:srgbClr val="2C3E50"/>
                </a:solidFill>
                <a:latin typeface="微軟正黑體"/>
              </a:rPr>
              <a:t>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50054"/>
            <a:ext cx="5029200" cy="1404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8A65"/>
                </a:solidFill>
                <a:latin typeface="微軟正黑體"/>
              </a:rPr>
              <a:t>炭治郎</a:t>
            </a:r>
          </a:p>
          <a:p>
            <a:pPr algn="ctr"/>
            <a:r>
              <a:rPr sz="2200" b="1">
                <a:solidFill>
                  <a:srgbClr val="FF8A65"/>
                </a:solidFill>
                <a:latin typeface="微軟正黑體"/>
              </a:rPr>
              <a:t>溫柔 + 強大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31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鬼滅之刃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題目頁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8A65"/>
                </a:solidFill>
                <a:latin typeface="微軟正黑體"/>
              </a:rPr>
              <a:t>🤔 想一想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2C3E50"/>
                </a:solidFill>
                <a:latin typeface="微軟正黑體"/>
              </a:rPr>
              <a:t>甘露寺可愛粉粉的，</a:t>
            </a:r>
          </a:p>
          <a:p>
            <a:pPr algn="ctr"/>
            <a:r>
              <a:rPr sz="5400" b="1">
                <a:solidFill>
                  <a:srgbClr val="2C3E50"/>
                </a:solidFill>
                <a:latin typeface="微軟正黑體"/>
              </a:rPr>
              <a:t>所以她很弱嗎？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4389120"/>
            <a:ext cx="1645920" cy="164592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70916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弱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389120"/>
            <a:ext cx="1645920" cy="164592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0916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不弱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78991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  <a:latin typeface="微軟正黑體"/>
              </a:rPr>
              <a:t>A 同學：眼神告訴老師　｜　D 同學：用手指　｜　舉起你的牌！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32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鬼滅之刃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軟正黑體"/>
              </a:rPr>
              <a:t>倒數頁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0" b="1">
                <a:solidFill>
                  <a:srgbClr val="FF8A65"/>
                </a:solidFill>
                <a:latin typeface="微軟正黑體"/>
              </a:rPr>
              <a:t>3   2   1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4A6FA5"/>
                </a:solidFill>
                <a:latin typeface="微軟正黑體"/>
              </a:rPr>
              <a:t>舉  牌！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1097280" cy="109728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好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3657600"/>
            <a:ext cx="1097280" cy="109728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33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鬼滅之刃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答案頁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FF8A65"/>
                </a:solidFill>
                <a:latin typeface="微軟正黑體"/>
              </a:rPr>
              <a:t>錯！她超強！💥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9418320" cy="164592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2C3E50"/>
                </a:solidFill>
                <a:latin typeface="微軟正黑體"/>
              </a:rPr>
              <a:t>外表 ≠ 能力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34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鬼滅之刃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那炭治郎呢？😊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5720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[炭治郎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溫柔笑容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軟正黑體"/>
              </a:rPr>
              <a:t>炭治郎很溫柔，</a:t>
            </a:r>
          </a:p>
          <a:p>
            <a:pPr algn="l"/>
            <a:r>
              <a:rPr sz="3200" b="1">
                <a:solidFill>
                  <a:srgbClr val="2C3E50"/>
                </a:solidFill>
                <a:latin typeface="微軟正黑體"/>
              </a:rPr>
              <a:t>所以他很弱嗎？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66BB6A"/>
                </a:solidFill>
                <a:latin typeface="微軟正黑體"/>
              </a:rPr>
              <a:t>也不是！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029200"/>
            <a:ext cx="5029200" cy="118872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溫柔的人，</a:t>
            </a:r>
          </a:p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可以很強大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35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航海王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這位是… 娜美 &amp; 女帝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[娜美 &amp; 女帝]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Q 版 Q 版插圖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（柔色、無打鬥）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484632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🌊 娜美 &amp; 女帝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175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🗺️  娜美：航海士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8404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🌊  娜美：看地圖很厲害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6634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👑  女帝：海賊團團長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486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💪  女帝：很強的領袖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36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航海王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他們的特質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029200" cy="2633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0" b="0">
                <a:solidFill>
                  <a:srgbClr val="2C3E50"/>
                </a:solidFill>
                <a:latin typeface="微軟正黑體"/>
              </a:rPr>
              <a:t>🗺️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50054"/>
            <a:ext cx="5029200" cy="1404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娜美</a:t>
            </a:r>
          </a:p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航海士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2633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0" b="0">
                <a:solidFill>
                  <a:srgbClr val="2C3E50"/>
                </a:solidFill>
                <a:latin typeface="微軟正黑體"/>
              </a:rPr>
              <a:t>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50054"/>
            <a:ext cx="5029200" cy="1404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8A65"/>
                </a:solidFill>
                <a:latin typeface="微軟正黑體"/>
              </a:rPr>
              <a:t>女帝</a:t>
            </a:r>
          </a:p>
          <a:p>
            <a:pPr algn="ctr"/>
            <a:r>
              <a:rPr sz="2200" b="1">
                <a:solidFill>
                  <a:srgbClr val="FF8A65"/>
                </a:solidFill>
                <a:latin typeface="微軟正黑體"/>
              </a:rPr>
              <a:t>團長 + 領袖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37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航海王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題目頁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8A65"/>
                </a:solidFill>
                <a:latin typeface="微軟正黑體"/>
              </a:rPr>
              <a:t>🤔 生活情境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>
                <a:solidFill>
                  <a:srgbClr val="2C3E50"/>
                </a:solidFill>
                <a:latin typeface="微軟正黑體"/>
              </a:rPr>
              <a:t>班上選班長，誰可以選？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383280" cy="1828800"/>
          </a:xfrm>
          <a:prstGeom prst="roundRect">
            <a:avLst>
              <a:gd name="adj" fmla="val 15000"/>
            </a:avLst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2C3E50"/>
                </a:solidFill>
                <a:latin typeface="微軟正黑體"/>
              </a:rPr>
              <a:t>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男生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383280" cy="1828800"/>
          </a:xfrm>
          <a:prstGeom prst="roundRect">
            <a:avLst>
              <a:gd name="adj" fmla="val 15000"/>
            </a:avLst>
          </a:prstGeom>
          <a:solidFill>
            <a:srgbClr val="FFC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20624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2C3E50"/>
                </a:solidFill>
                <a:latin typeface="微軟正黑體"/>
              </a:rPr>
              <a:t>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2120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女生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3383280" cy="1828800"/>
          </a:xfrm>
          <a:prstGeom prst="roundRect">
            <a:avLst>
              <a:gd name="adj" fmla="val 15000"/>
            </a:avLst>
          </a:prstGeom>
          <a:solidFill>
            <a:srgbClr val="CCF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20624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2C3E50"/>
                </a:solidFill>
                <a:latin typeface="微軟正黑體"/>
              </a:rPr>
              <a:t>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120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都可以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38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航海王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軟正黑體"/>
              </a:rPr>
              <a:t>倒數頁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0" b="1">
                <a:solidFill>
                  <a:srgbClr val="FF8A65"/>
                </a:solidFill>
                <a:latin typeface="微軟正黑體"/>
              </a:rPr>
              <a:t>3   2   1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4A6FA5"/>
                </a:solidFill>
                <a:latin typeface="微軟正黑體"/>
              </a:rPr>
              <a:t>舉  牌！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1097280" cy="109728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好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3657600"/>
            <a:ext cx="1097280" cy="109728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39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航海王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答案頁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66BB6A"/>
                </a:solidFill>
                <a:latin typeface="微軟正黑體"/>
              </a:rPr>
              <a:t>都可以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9418320" cy="164592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領導力，不分男女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40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航海王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她們都是領袖 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365760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[娜美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站領獎台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365760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154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[女帝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站領獎台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02920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</a:rPr>
              <a:t>娜美 · 航海士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02920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029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</a:rPr>
              <a:t>女帝 · 團長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41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烏龍派出所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這位是… 麗子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[麗子]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Q 版 Q 版插圖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（柔色、無打鬥）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484632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👮 麗子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175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👮  麗子：是警察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8404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🥋  麗子：武術很強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6634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💄  麗子：又很美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486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3E50"/>
                </a:solidFill>
                <a:latin typeface="微軟正黑體"/>
              </a:rPr>
              <a:t>🧠  麗子：又很聰明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42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烏龍派出所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麗子的特質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274320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743200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0" b="0">
                <a:solidFill>
                  <a:srgbClr val="2C3E50"/>
                </a:solidFill>
                <a:latin typeface="微軟正黑體"/>
              </a:rPr>
              <a:t>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62856"/>
            <a:ext cx="274320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警察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011680"/>
            <a:ext cx="274320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2194560"/>
            <a:ext cx="2743200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0" b="0">
                <a:solidFill>
                  <a:srgbClr val="2C3E50"/>
                </a:solidFill>
                <a:latin typeface="微軟正黑體"/>
              </a:rPr>
              <a:t>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4562856"/>
            <a:ext cx="274320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武術強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74320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743200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0" b="0">
                <a:solidFill>
                  <a:srgbClr val="2C3E50"/>
                </a:solidFill>
                <a:latin typeface="微軟正黑體"/>
              </a:rPr>
              <a:t>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62856"/>
            <a:ext cx="274320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又美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19" y="2011680"/>
            <a:ext cx="274320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2194560"/>
            <a:ext cx="2743200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0" b="0">
                <a:solidFill>
                  <a:srgbClr val="2C3E50"/>
                </a:solidFill>
                <a:latin typeface="微軟正黑體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4562856"/>
            <a:ext cx="274320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A6FA5"/>
                </a:solidFill>
                <a:latin typeface="微軟正黑體"/>
              </a:rPr>
              <a:t>又聰明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43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烏龍派出所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題目頁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8A65"/>
                </a:solidFill>
                <a:latin typeface="微軟正黑體"/>
              </a:rPr>
              <a:t>🤔 兩難題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286000"/>
            <a:ext cx="9418320" cy="1645920"/>
          </a:xfrm>
          <a:prstGeom prst="roundRect">
            <a:avLst>
              <a:gd name="adj" fmla="val 20000"/>
            </a:avLst>
          </a:prstGeom>
          <a:solidFill>
            <a:srgbClr val="FFCCCC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軟正黑體"/>
              </a:rPr>
              <a:t>有人說：「麗子又美又強，太奇怪了！」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你覺得呢？奇怪嗎？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44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烏龍派出所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軟正黑體"/>
              </a:rPr>
              <a:t>倒數頁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0" b="1">
                <a:solidFill>
                  <a:srgbClr val="FF8A65"/>
                </a:solidFill>
                <a:latin typeface="微軟正黑體"/>
              </a:rPr>
              <a:t>3   2   1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4A6FA5"/>
                </a:solidFill>
                <a:latin typeface="微軟正黑體"/>
              </a:rPr>
              <a:t>舉  牌！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1097280" cy="109728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好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3657600"/>
            <a:ext cx="1097280" cy="109728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不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45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274320"/>
            <a:ext cx="347472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2926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烏龍派出所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答案頁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66BB6A"/>
                </a:solidFill>
                <a:latin typeface="微軟正黑體"/>
              </a:rPr>
              <a:t>一點也不奇怪！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9418320" cy="164592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美和強，可以同時存在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46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§2 動漫天團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動漫天團大合照 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737360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⚔️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3736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米卡莎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阿爾敏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4592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737360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73736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大雄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292608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017520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01752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胖虎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92608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017520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01752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甘露寺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92608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3017520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01752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炭治郎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20624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4297679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🗺️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297679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娜美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20624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297679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297679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女帝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206240"/>
            <a:ext cx="29260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4297679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微軟正黑體"/>
              </a:rPr>
              <a:t>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297679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軟正黑體"/>
              </a:rPr>
              <a:t>麗子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5669280"/>
            <a:ext cx="9418320" cy="9144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5669280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</a:rPr>
              <a:t>他們的共通點：突破刻板印象 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47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A6FA5"/>
                </a:solidFill>
                <a:latin typeface="微軟正黑體"/>
              </a:rPr>
              <a:t>今天還有一個公主的故事…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576072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61188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[城堡 Q 版插圖]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柔色背景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微軟正黑體"/>
              </a:rPr>
              <a:t>繪本《紙袋公主》(The Paper Bag Princess)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48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故事人物 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6576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[伊莉莎白 公主]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華麗禮服 Q 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0" b="1">
                <a:solidFill>
                  <a:srgbClr val="FF8A65"/>
                </a:solidFill>
                <a:latin typeface="微軟正黑體"/>
              </a:rPr>
              <a:t>❤️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28800"/>
            <a:ext cx="36576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6118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[羅納 王子]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華麗服裝 Q 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4A6FA5"/>
                </a:solidFill>
                <a:latin typeface="微軟正黑體"/>
              </a:rPr>
              <a:t>公主 伊莉莎白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035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8A65"/>
                </a:solidFill>
                <a:latin typeface="微軟正黑體"/>
              </a:rPr>
              <a:t>王子 羅納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49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8A65"/>
                </a:solidFill>
                <a:latin typeface="微軟正黑體"/>
              </a:rPr>
              <a:t>糟糕… 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4572000" cy="36576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[惡龍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柔和卡通風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（無逼真火焰）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4846320" cy="36576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[城堡冒煙]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柔色煙霧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86400"/>
            <a:ext cx="10332720" cy="109728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C3E50"/>
                </a:solidFill>
                <a:latin typeface="微軟正黑體"/>
              </a:rPr>
              <a:t>惡龍燒了城堡，抓走王子！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50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公主的決定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45720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[公主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華服破了 → 紙袋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1371600"/>
          </a:xfrm>
          <a:prstGeom prst="roundRect">
            <a:avLst>
              <a:gd name="adj" fmla="val 20000"/>
            </a:avLst>
          </a:prstGeom>
          <a:solidFill>
            <a:srgbClr val="FFE082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軟正黑體"/>
              </a:rPr>
              <a:t>我要去救王子！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5029200" cy="2286000"/>
          </a:xfrm>
          <a:prstGeom prst="roundRect">
            <a:avLst>
              <a:gd name="adj" fmla="val 15000"/>
            </a:avLst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軟正黑體"/>
              </a:rPr>
              <a:t>只剩一個紙袋…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8A65"/>
                </a:solidFill>
                <a:latin typeface="微軟正黑體"/>
              </a:rPr>
              <a:t>公主穿上紙袋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8A65"/>
                </a:solidFill>
                <a:latin typeface="微軟正黑體"/>
              </a:rPr>
              <a:t>出發！🚶‍♀️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51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智取惡龍 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1148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[公主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穿紙袋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41148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6118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[惡龍 Q 版]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6035040"/>
            <a:ext cx="10332720" cy="640080"/>
          </a:xfrm>
          <a:prstGeom prst="roundRect">
            <a:avLst>
              <a:gd name="adj" fmla="val 20000"/>
            </a:avLst>
          </a:prstGeom>
          <a:solidFill>
            <a:srgbClr val="FFE082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172200"/>
            <a:ext cx="10058400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軟正黑體"/>
              </a:rPr>
              <a:t>公主問：「聽說你噴火很厲害？」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52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智取惡龍 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4846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154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[惡龍累倒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躺平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5303520"/>
            <a:ext cx="4846320" cy="914400"/>
          </a:xfrm>
          <a:prstGeom prst="roundRect">
            <a:avLst>
              <a:gd name="adj" fmla="val 20000"/>
            </a:avLst>
          </a:prstGeom>
          <a:solidFill>
            <a:srgbClr val="FFE082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54406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軟正黑體"/>
              </a:rPr>
              <a:t>呼… 呼… 累死了…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微軟正黑體"/>
              </a:rPr>
              <a:t>惡龍被請出去噴火 100 次，累得睡著了！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53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0" b="1">
                <a:solidFill>
                  <a:srgbClr val="66BB6A"/>
                </a:solidFill>
                <a:latin typeface="微軟正黑體"/>
              </a:rPr>
              <a:t>救出王子！🎉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484632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6118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[公主開門 + 王子探頭]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Q 版插圖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54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8A65"/>
                </a:solidFill>
                <a:latin typeface="微軟正黑體"/>
              </a:rPr>
              <a:t>可是…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657600" cy="36576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[王子 Q 版]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皺眉表情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86000"/>
            <a:ext cx="5943600" cy="3200400"/>
          </a:xfrm>
          <a:prstGeom prst="roundRect">
            <a:avLst>
              <a:gd name="adj" fmla="val 20000"/>
            </a:avLst>
          </a:prstGeom>
          <a:solidFill>
            <a:srgbClr val="FFCCCC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2423160"/>
            <a:ext cx="566928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軟正黑體"/>
              </a:rPr>
              <a:t>你的衣服好醜！</a:t>
            </a:r>
          </a:p>
          <a:p>
            <a:pPr algn="ctr"/>
            <a:r>
              <a:rPr sz="3200" b="0">
                <a:solidFill>
                  <a:srgbClr val="2C3E50"/>
                </a:solidFill>
                <a:latin typeface="微軟正黑體"/>
              </a:rPr>
              <a:t>回去換漂亮的</a:t>
            </a:r>
          </a:p>
          <a:p>
            <a:pPr algn="ctr"/>
            <a:r>
              <a:rPr sz="3200" b="0">
                <a:solidFill>
                  <a:srgbClr val="2C3E50"/>
                </a:solidFill>
                <a:latin typeface="微軟正黑體"/>
              </a:rPr>
              <a:t>再來救我！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6B7280"/>
                </a:solidFill>
                <a:latin typeface="微軟正黑體"/>
              </a:rPr>
              <a:t>王子嫌公主醜…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55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題目頁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8A65"/>
                </a:solidFill>
                <a:latin typeface="微軟正黑體"/>
              </a:rPr>
              <a:t>🤔 兩難題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2C3E50"/>
                </a:solidFill>
                <a:latin typeface="微軟正黑體"/>
              </a:rPr>
              <a:t>王子說的對嗎？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4389120"/>
            <a:ext cx="1645920" cy="164592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70916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對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389120"/>
            <a:ext cx="1645920" cy="164592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0916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不對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78991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  <a:latin typeface="微軟正黑體"/>
              </a:rPr>
              <a:t>幫公主想：對？不對？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56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軟正黑體"/>
              </a:rPr>
              <a:t>倒數頁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0" b="1">
                <a:solidFill>
                  <a:srgbClr val="FF8A65"/>
                </a:solidFill>
                <a:latin typeface="微軟正黑體"/>
              </a:rPr>
              <a:t>3   2   1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4A6FA5"/>
                </a:solidFill>
                <a:latin typeface="微軟正黑體"/>
              </a:rPr>
              <a:t>舉  牌！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1097280" cy="1097280"/>
          </a:xfrm>
          <a:prstGeom prst="ellipse">
            <a:avLst/>
          </a:prstGeom>
          <a:solidFill>
            <a:srgbClr val="66BB6A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好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3657600"/>
            <a:ext cx="1097280" cy="1097280"/>
          </a:xfrm>
          <a:prstGeom prst="ellipse">
            <a:avLst/>
          </a:prstGeom>
          <a:solidFill>
            <a:srgbClr val="EF535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370332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軟正黑體"/>
              </a:rPr>
              <a:t>不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57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10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答案頁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0" b="1">
                <a:solidFill>
                  <a:srgbClr val="EF5350"/>
                </a:solidFill>
                <a:latin typeface="微軟正黑體"/>
              </a:rPr>
              <a:t>不對！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200400"/>
            <a:ext cx="5760720" cy="256032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20624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[公主背影] 走遠的紙袋公主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8A65"/>
                </a:solidFill>
                <a:latin typeface="微軟正黑體"/>
              </a:rPr>
              <a:t>而且…公主轉身離開了 👋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58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公主的心裡話 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114800" cy="41148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[公主背影 Q 版]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5943600" cy="4114800"/>
          </a:xfrm>
          <a:prstGeom prst="roundRect">
            <a:avLst>
              <a:gd name="adj" fmla="val 20000"/>
            </a:avLst>
          </a:prstGeom>
          <a:solidFill>
            <a:srgbClr val="FFE082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1965960"/>
            <a:ext cx="5669280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0">
                <a:solidFill>
                  <a:srgbClr val="2C3E50"/>
                </a:solidFill>
                <a:latin typeface="微軟正黑體"/>
              </a:rPr>
              <a:t>我救了你，</a:t>
            </a:r>
          </a:p>
          <a:p>
            <a:pPr algn="ctr"/>
            <a:r>
              <a:rPr sz="3400" b="0">
                <a:solidFill>
                  <a:srgbClr val="2C3E50"/>
                </a:solidFill>
                <a:latin typeface="微軟正黑體"/>
              </a:rPr>
              <a:t>你卻只看我外表。</a:t>
            </a:r>
          </a:p>
          <a:p>
            <a:pPr algn="ctr"/>
            <a:r>
              <a:rPr sz="3400" b="0">
                <a:solidFill>
                  <a:srgbClr val="2C3E50"/>
                </a:solidFill>
                <a:latin typeface="微軟正黑體"/>
              </a:rPr>
              <a:t/>
            </a:r>
          </a:p>
          <a:p>
            <a:pPr algn="ctr"/>
            <a:r>
              <a:rPr sz="3400" b="0">
                <a:solidFill>
                  <a:srgbClr val="2C3E50"/>
                </a:solidFill>
                <a:latin typeface="微軟正黑體"/>
              </a:rPr>
              <a:t>再見！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59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2C3E50"/>
                </a:solidFill>
                <a:latin typeface="微軟正黑體"/>
              </a:rPr>
              <a:t>真正的公主，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FF8A65"/>
                </a:solidFill>
                <a:latin typeface="微軟正黑體"/>
              </a:rPr>
              <a:t>不靠衣服證明自己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0">
                <a:solidFill>
                  <a:srgbClr val="2C3E50"/>
                </a:solidFill>
                <a:latin typeface="微軟正黑體"/>
              </a:rPr>
              <a:t>🛍️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60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§3 紙袋公主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伊莉莎白的英雄能力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566160" cy="3931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2C3E50"/>
                </a:solidFill>
                <a:latin typeface="微軟正黑體"/>
              </a:rPr>
              <a:t>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8A65"/>
                </a:solidFill>
                <a:latin typeface="微軟正黑體"/>
              </a:rPr>
              <a:t>勇敢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566160" cy="3931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2C3E50"/>
                </a:solidFill>
                <a:latin typeface="微軟正黑體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8912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聰明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566160" cy="3931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2C3E50"/>
                </a:solidFill>
                <a:latin typeface="微軟正黑體"/>
              </a:rPr>
              <a:t>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38912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66BB6A"/>
                </a:solidFill>
                <a:latin typeface="微軟正黑體"/>
              </a:rPr>
              <a:t>看見自己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61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§4 判斷法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>
                <a:solidFill>
                  <a:srgbClr val="4A6FA5"/>
                </a:solidFill>
                <a:latin typeface="微軟正黑體"/>
              </a:rPr>
              <a:t>遇到刻板印象，怎麼辦？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0" b="1">
                <a:solidFill>
                  <a:srgbClr val="FF8A65"/>
                </a:solidFill>
                <a:latin typeface="微軟正黑體"/>
              </a:rPr>
              <a:t>✨🪄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8A65"/>
                </a:solidFill>
                <a:latin typeface="微軟正黑體"/>
              </a:rPr>
              <a:t>神奇判斷法 ⚡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62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§4 判斷法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三個神奇問題 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4A6FA5"/>
                </a:solidFill>
                <a:latin typeface="微軟正黑體"/>
              </a:rP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這跟性別</a:t>
            </a:r>
          </a:p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有關嗎？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56616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FF8A65"/>
                </a:solidFill>
                <a:latin typeface="微軟正黑體"/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1148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他傷害到</a:t>
            </a:r>
          </a:p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別人嗎？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566160" cy="4389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0" b="0">
                <a:solidFill>
                  <a:srgbClr val="66BB6A"/>
                </a:solidFill>
                <a:latin typeface="微軟正黑體"/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他自己</a:t>
            </a:r>
          </a:p>
          <a:p>
            <a:pPr algn="ctr"/>
            <a:r>
              <a:rPr sz="2800" b="1">
                <a:solidFill>
                  <a:srgbClr val="2C3E50"/>
                </a:solidFill>
                <a:latin typeface="微軟正黑體"/>
              </a:rPr>
              <a:t>快樂嗎？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63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§4 判斷法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1️⃣  這跟性別有關嗎？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3657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8A65"/>
                </a:solidFill>
                <a:latin typeface="微軟正黑體"/>
              </a:rPr>
              <a:t>🌰 舉例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大雄玩翻花繩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66BB6A"/>
                </a:solidFill>
                <a:latin typeface="微軟正黑體"/>
              </a:rPr>
              <a:t>→  跟性別「無關」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答案：不是性別的問題，玩翻花繩就只是「他的興趣」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64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§4 判斷法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8A65"/>
                </a:solidFill>
                <a:latin typeface="微軟正黑體"/>
              </a:rPr>
              <a:t>2️⃣  他傷害到別人嗎？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3657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8A65"/>
                </a:solidFill>
                <a:latin typeface="微軟正黑體"/>
              </a:rPr>
              <a:t>🌰 舉例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小新穿粉紅色衣服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66BB6A"/>
                </a:solidFill>
                <a:latin typeface="微軟正黑體"/>
              </a:rPr>
              <a:t>→  沒有傷害人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答案：他自己開心，也沒有傷害誰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65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§4 判斷法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66BB6A"/>
                </a:solidFill>
                <a:latin typeface="微軟正黑體"/>
              </a:rPr>
              <a:t>3️⃣  他自己快樂嗎？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3657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8A65"/>
                </a:solidFill>
                <a:latin typeface="微軟正黑體"/>
              </a:rPr>
              <a:t>🌰 舉例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公主穿紙袋去救人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66BB6A"/>
                </a:solidFill>
                <a:latin typeface="微軟正黑體"/>
              </a:rPr>
              <a:t>→  她很快樂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答案：救到王子的當下她超有成就感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66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§4 判斷法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A6FA5"/>
                </a:solidFill>
                <a:latin typeface="微軟正黑體"/>
              </a:rPr>
              <a:t>一起判斷看看 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32720" cy="128016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2C3E50"/>
                </a:solidFill>
                <a:latin typeface="微軟正黑體"/>
              </a:rPr>
              <a:t>情境：班上男生想加入「花藝社」，可以嗎？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08960"/>
            <a:ext cx="1033272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4A6FA5"/>
                </a:solidFill>
                <a:latin typeface="微軟正黑體"/>
              </a:rPr>
              <a:t>1️⃣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004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微軟正黑體"/>
              </a:rPr>
              <a:t>跟性別有關嗎？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66BB6A"/>
                </a:solidFill>
                <a:latin typeface="微軟正黑體"/>
              </a:rPr>
              <a:t>不是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1033272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59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FF8A65"/>
                </a:solidFill>
                <a:latin typeface="微軟正黑體"/>
              </a:rPr>
              <a:t>2️⃣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251959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微軟正黑體"/>
              </a:rPr>
              <a:t>傷害到別人嗎？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251959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66BB6A"/>
                </a:solidFill>
                <a:latin typeface="微軟正黑體"/>
              </a:rPr>
              <a:t>沒有 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212079"/>
            <a:ext cx="1033272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03519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66BB6A"/>
                </a:solidFill>
                <a:latin typeface="微軟正黑體"/>
              </a:rPr>
              <a:t>3️⃣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303519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微軟正黑體"/>
              </a:rPr>
              <a:t>他自己快樂嗎？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303519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66BB6A"/>
                </a:solidFill>
                <a:latin typeface="微軟正黑體"/>
              </a:rPr>
              <a:t>快樂 ✓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67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274320"/>
            <a:ext cx="283463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92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§4 判斷法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FF8A65"/>
                </a:solidFill>
                <a:latin typeface="微軟正黑體"/>
              </a:rPr>
              <a:t>判斷法 GET！🎉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0" b="0">
                <a:solidFill>
                  <a:srgbClr val="2C3E50"/>
                </a:solidFill>
                <a:latin typeface="微軟正黑體"/>
              </a:rPr>
              <a:t>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120640"/>
            <a:ext cx="2103120" cy="13716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212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暖身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120640"/>
            <a:ext cx="2103120" cy="13716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5212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943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動漫天團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5120640"/>
            <a:ext cx="2103120" cy="13716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5212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943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公主故事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5120640"/>
            <a:ext cx="2103120" cy="137160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5212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5943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判斷法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5120640"/>
            <a:ext cx="210312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5943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軟正黑體"/>
              </a:rPr>
              <a:t>英雄宣言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68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英雄宣言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0" b="1">
                <a:solidFill>
                  <a:srgbClr val="4A6FA5"/>
                </a:solidFill>
                <a:latin typeface="微軟正黑體"/>
              </a:rPr>
              <a:t>現在輪到你了… 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A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[Q 版頭像]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611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B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[Q 版頭像]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611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C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[Q 版頭像]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2860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3611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D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[Q 版頭像]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每個人都有自己的英雄能力 💪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69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英雄宣言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4A6FA5"/>
                </a:solidFill>
                <a:latin typeface="微軟正黑體"/>
              </a:rPr>
              <a:t>你的英雄能力是？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7160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強壯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溫柔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37160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37160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聰明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280160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7160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137160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開心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34639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79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926079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創意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834639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926079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926079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友善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34639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926079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926079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勇敢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2834639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926079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926079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音樂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389120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80559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480559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廚藝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389120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480559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480559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運動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389120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4480559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480559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學習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4389120"/>
            <a:ext cx="26517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4480559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微軟正黑體"/>
              </a:rPr>
              <a:t>❤️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480559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軟正黑體"/>
              </a:rPr>
              <a:t>愛家人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6263640"/>
            <a:ext cx="1078991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  <a:latin typeface="微軟正黑體"/>
              </a:rPr>
              <a:t>D 同學：用「指」選　｜　C 同學：負責發圖卡　｜　每個人選一個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70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英雄宣言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A 同學 的英雄能力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828800"/>
            <a:ext cx="7589520" cy="32004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58952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6B7280"/>
                </a:solidFill>
                <a:latin typeface="微軟正黑體"/>
              </a:rPr>
              <a:t>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2120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（老師依學生選擇即時填上）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64240" cy="82296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080760"/>
            <a:ext cx="10789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微軟正黑體"/>
              </a:rPr>
              <a:t>用眼神告訴老師，老師會幫你貼圖卡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71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英雄宣言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B 同學 的英雄能力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828800"/>
            <a:ext cx="7589520" cy="32004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58952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6B7280"/>
                </a:solidFill>
                <a:latin typeface="微軟正黑體"/>
              </a:rPr>
              <a:t>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2120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（老師依學生選擇即時填上）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64240" cy="82296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080760"/>
            <a:ext cx="10789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微軟正黑體"/>
              </a:rPr>
              <a:t>可以說出來，也可以舉牌指圖卡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72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英雄宣言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C 同學 的英雄能力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828800"/>
            <a:ext cx="7589520" cy="32004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58952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6B7280"/>
                </a:solidFill>
                <a:latin typeface="微軟正黑體"/>
              </a:rPr>
              <a:t>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2120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（老師依學生選擇即時填上）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64240" cy="82296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080760"/>
            <a:ext cx="10789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微軟正黑體"/>
              </a:rPr>
              <a:t>你自己上台選並貼上去 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73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英雄宣言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D 同學 的英雄能力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828800"/>
            <a:ext cx="7589520" cy="3200400"/>
          </a:xfrm>
          <a:prstGeom prst="roundRect">
            <a:avLst>
              <a:gd name="adj" fmla="val 15000"/>
            </a:avLst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58952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6B7280"/>
                </a:solidFill>
                <a:latin typeface="微軟正黑體"/>
              </a:rPr>
              <a:t>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2120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（老師依學生選擇即時填上）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64240" cy="822960"/>
          </a:xfrm>
          <a:prstGeom prst="roundRect">
            <a:avLst>
              <a:gd name="adj" fmla="val 20000"/>
            </a:avLst>
          </a:prstGeom>
          <a:solidFill>
            <a:srgbClr val="F8BBD0"/>
          </a:solidFill>
          <a:ln w="1270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080760"/>
            <a:ext cx="10789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微軟正黑體"/>
              </a:rPr>
              <a:t>用手指你選的那張圖卡，老師會幫你貼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74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274320"/>
            <a:ext cx="3154679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292608"/>
            <a:ext cx="315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英雄宣言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A6FA5"/>
                </a:solidFill>
                <a:latin typeface="微軟正黑體"/>
              </a:rPr>
              <a:t>特教班 A 組 英雄陣容 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8A65"/>
                </a:solidFill>
                <a:latin typeface="微軟正黑體"/>
              </a:rPr>
              <a:t>— 我們每個人都不一樣，所以我們很強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65176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2286000" cy="210312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A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頭像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軟正黑體"/>
              </a:rPr>
              <a:t>我的能力：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11680"/>
            <a:ext cx="265176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194560"/>
            <a:ext cx="2286000" cy="210312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B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頭像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軟正黑體"/>
              </a:rPr>
              <a:t>我的能力：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0292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265176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2194560"/>
            <a:ext cx="2286000" cy="210312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C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頭像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軟正黑體"/>
              </a:rPr>
              <a:t>我的能力：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292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011680"/>
            <a:ext cx="265176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2194560"/>
            <a:ext cx="2286000" cy="2103120"/>
          </a:xfrm>
          <a:prstGeom prst="roundRect">
            <a:avLst>
              <a:gd name="adj" fmla="val 10000"/>
            </a:avLst>
          </a:prstGeom>
          <a:solidFill>
            <a:srgbClr val="F5EFE0"/>
          </a:solidFill>
          <a:ln w="25400">
            <a:solidFill>
              <a:srgbClr val="6B72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D 同學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頭像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480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軟正黑體"/>
              </a:rPr>
              <a:t>我的能力：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0292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8A65"/>
                </a:solidFill>
                <a:latin typeface="微軟正黑體"/>
              </a:rPr>
              <a:t>____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75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FF8A65"/>
                </a:solidFill>
                <a:latin typeface="微軟正黑體"/>
              </a:rPr>
              <a:t>我就是我，最特別！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10332720" cy="3657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D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不管你是男生女生，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C3E50"/>
                </a:solidFill>
                <a:latin typeface="微軟正黑體"/>
              </a:rPr>
              <a:t>喜歡什麼、擅長什麼，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8A65"/>
                </a:solidFill>
                <a:latin typeface="微軟正黑體"/>
              </a:rPr>
              <a:t>你，就是你的英雄。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微軟正黑體"/>
              </a:rPr>
              <a:t>— Stacey 老師 + 動漫天團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76 / 76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11335" y="274320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29260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§5 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A6FA5"/>
                </a:solidFill>
                <a:latin typeface="微軟正黑體"/>
              </a:rPr>
              <a:t>下週要去哪裡冒險？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0" b="1">
                <a:solidFill>
                  <a:srgbClr val="FF8A65"/>
                </a:solidFill>
                <a:latin typeface="微軟正黑體"/>
              </a:rPr>
              <a:t>🌌 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>
                <a:solidFill>
                  <a:srgbClr val="66BB6A"/>
                </a:solidFill>
                <a:latin typeface="微軟正黑體"/>
              </a:rPr>
              <a:t>下週見！👋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軟正黑體"/>
              </a:rPr>
              <a:t>Stacey 老師 · 2026/06/01 W17 第 7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